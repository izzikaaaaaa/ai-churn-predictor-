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BAE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LR</c:v>
                </c:pt>
                <c:pt idx="1">
                  <c:v>DT</c:v>
                </c:pt>
                <c:pt idx="2">
                  <c:v>AdaBoost</c:v>
                </c:pt>
                <c:pt idx="3">
                  <c:v>Rnd Forest</c:v>
                </c:pt>
                <c:pt idx="4">
                  <c:v>XGBoost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82</c:v>
                </c:pt>
                <c:pt idx="2">
                  <c:v>84</c:v>
                </c:pt>
                <c:pt idx="3">
                  <c:v>86</c:v>
                </c:pt>
                <c:pt idx="4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8F-4A74-B2D4-9B32C7E7A5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4AB8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LR</c:v>
                </c:pt>
                <c:pt idx="1">
                  <c:v>DT</c:v>
                </c:pt>
                <c:pt idx="2">
                  <c:v>AdaBoost</c:v>
                </c:pt>
                <c:pt idx="3">
                  <c:v>Rnd Forest</c:v>
                </c:pt>
                <c:pt idx="4">
                  <c:v>XGBoost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</c:v>
                </c:pt>
                <c:pt idx="1">
                  <c:v>82</c:v>
                </c:pt>
                <c:pt idx="2">
                  <c:v>84</c:v>
                </c:pt>
                <c:pt idx="3">
                  <c:v>86</c:v>
                </c:pt>
                <c:pt idx="4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8F-4A74-B2D4-9B32C7E7A5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C8A84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LR</c:v>
                </c:pt>
                <c:pt idx="1">
                  <c:v>DT</c:v>
                </c:pt>
                <c:pt idx="2">
                  <c:v>AdaBoost</c:v>
                </c:pt>
                <c:pt idx="3">
                  <c:v>Rnd Forest</c:v>
                </c:pt>
                <c:pt idx="4">
                  <c:v>XGBoost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88</c:v>
                </c:pt>
                <c:pt idx="1">
                  <c:v>82</c:v>
                </c:pt>
                <c:pt idx="2">
                  <c:v>91</c:v>
                </c:pt>
                <c:pt idx="3">
                  <c:v>93</c:v>
                </c:pt>
                <c:pt idx="4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8F-4A74-B2D4-9B32C7E7A5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3D6B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C4A2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A8C4A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C4A2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257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3D6B3D">
              <a:alpha val="40000"/>
            </a:srgbClr>
          </a:solidFill>
          <a:ln w="12700">
            <a:solidFill>
              <a:srgbClr val="3D6B3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182880"/>
            <a:ext cx="2011680" cy="2011680"/>
          </a:xfrm>
          <a:prstGeom prst="ellipse">
            <a:avLst/>
          </a:prstGeom>
          <a:solidFill>
            <a:srgbClr val="6BAE6B">
              <a:alpha val="25000"/>
            </a:srgbClr>
          </a:solidFill>
          <a:ln w="12700">
            <a:solidFill>
              <a:srgbClr val="6BAE6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0" y="292608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20840" y="292608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0" y="292608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60920" y="292608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324612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20840" y="324612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324612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60920" y="324612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0" y="356616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720840" y="356616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40880" y="356616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60920" y="3566160"/>
            <a:ext cx="73152" cy="73152"/>
          </a:xfrm>
          <a:prstGeom prst="ellipse">
            <a:avLst/>
          </a:prstGeom>
          <a:solidFill>
            <a:srgbClr val="6BAE6B">
              <a:alpha val="50000"/>
            </a:srgbClr>
          </a:solidFill>
          <a:ln w="12700">
            <a:solidFill>
              <a:srgbClr val="6BAE6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57200" y="16916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· Telecom Analytics · Machine Learning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920240" cy="777240"/>
          </a:xfrm>
          <a:prstGeom prst="rect">
            <a:avLst/>
          </a:prstGeom>
          <a:solidFill>
            <a:srgbClr val="2C4A2C"/>
          </a:solidFill>
          <a:ln w="1270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3703320"/>
            <a:ext cx="1920240" cy="777240"/>
          </a:xfrm>
          <a:prstGeom prst="rect">
            <a:avLst/>
          </a:prstGeom>
          <a:solidFill>
            <a:srgbClr val="2C4A2C"/>
          </a:solidFill>
          <a:ln w="1270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0604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606040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1920240" cy="777240"/>
          </a:xfrm>
          <a:prstGeom prst="rect">
            <a:avLst/>
          </a:prstGeom>
          <a:solidFill>
            <a:srgbClr val="2C4A2C"/>
          </a:solidFill>
          <a:ln w="1270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54880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3720" y="3703320"/>
            <a:ext cx="1920240" cy="777240"/>
          </a:xfrm>
          <a:prstGeom prst="rect">
            <a:avLst/>
          </a:prstGeom>
          <a:solidFill>
            <a:srgbClr val="2C4A2C"/>
          </a:solidFill>
          <a:ln w="1270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03720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4-Member Team Project  |  Computer Science &amp;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Existing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411480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834640" cy="384048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95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CRM-Based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– Einstein Analytics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churn risk scoring with CRM workflows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Dynamics 365 – Customer Insights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segmentation and churn prediction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– Predictive Scoring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Engagement-based churn indicators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Expensive, black-box, limited customisation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834640" cy="411480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834640" cy="384048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795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Enterprise Platforms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23444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– SPSS Modeler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– Customer Intelligence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– Customer Experience Analytics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modelling and ML for churn prediction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High licensing costs; require specialist expertise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834640" cy="411480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777240"/>
            <a:ext cx="2834640" cy="384048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795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Proprietary Telecom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234440"/>
            <a:ext cx="2651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AT&amp;T, Vodafone use internal AI systems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call patterns, billing history, contract duration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Not publicly accessible; lack methodological transparency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C0392B">
              <a:alpha val="80000"/>
            </a:srgbClr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6817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Gap: High cost  •  Black-box models  •  Reactive, not proactive  •  Limited customisation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Existing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4864" cy="5029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841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0789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require costly licences and infrastructure beyond academic or SME reach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609344"/>
            <a:ext cx="54864" cy="5029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627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653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transparency — businesses cannot understand or trust the model's reasoning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395728"/>
            <a:ext cx="54864" cy="5029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414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Customisation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651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lock features; organisations cannot tune models for their specific customer profiles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182112"/>
            <a:ext cx="54864" cy="5029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Accessibility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4381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systems unavailable for research or smaller telecom operators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968496"/>
            <a:ext cx="54864" cy="5029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986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2245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identify churn after it has begun, not before — missing the intervention window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77840" y="822960"/>
            <a:ext cx="3291840" cy="3977640"/>
          </a:xfrm>
          <a:prstGeom prst="rect">
            <a:avLst/>
          </a:prstGeom>
          <a:solidFill>
            <a:srgbClr val="2C4A2C"/>
          </a:solidFill>
          <a:ln w="1270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77840" y="822960"/>
            <a:ext cx="3291840" cy="384048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8412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1298448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solution using open-source tools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interpretable model outputs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Customisable pipeline for different datasets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system with a business-facing UI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— predict before the customer leaves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accessible and reproducible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3D6B3D">
              <a:alpha val="70000"/>
            </a:srgbClr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6817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addresses all five gaps with a fully open-source, deployable, and interpretable churn prediction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Feasibility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96596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02920" cy="1965960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1887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Scikit-learn, XGBoost, Flask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laptop sufficient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available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specialised hardware required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196596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502920" cy="1965960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8229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161288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1887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open-source software only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 or API costs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Economically viable and low-cost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60520" cy="196596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502920" cy="1965960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310128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3375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user interface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training required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prediction outputs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adopted in business environments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60520" cy="196596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502920" cy="1965960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310128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Feasibility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3375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weeks realistic for 4-member team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Proposed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58368"/>
          </a:xfrm>
          <a:prstGeom prst="rect">
            <a:avLst/>
          </a:prstGeom>
          <a:solidFill>
            <a:srgbClr val="3D6B3D">
              <a:alpha val="80000"/>
            </a:srgbClr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an AI-based Customer Churn Prediction System that accurately identifies at-risk customers, enabling proactive retention strategies.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160520" cy="150876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4160520" cy="329184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5910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591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Behaviour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demographic, billing &amp; service usage patterns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churn-driving features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churner vs. non-churner differences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554480"/>
            <a:ext cx="4160520" cy="150876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554480"/>
            <a:ext cx="4160520" cy="329184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82312" y="15910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1591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Predictive Models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38528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Low / Medium / High risk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supervised ML algorithms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baseline and advanced models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4160520" cy="150876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218688"/>
            <a:ext cx="4160520" cy="329184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325526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255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Predictive Reliability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602736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class imbalance with SMOTE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with evaluation metrics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probability-based risk scores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218688"/>
            <a:ext cx="4160520" cy="150876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3218688"/>
            <a:ext cx="4160520" cy="329184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82312" y="325526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255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Deployable System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602736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trained model into prediction pipeline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interpretable outputs to business users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real-time predictions via web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Data &amp; Model Development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19202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886968"/>
            <a:ext cx="502920" cy="50292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886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historical customer dataset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account details, usage patterns, churn label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19202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18888" y="886968"/>
            <a:ext cx="502920" cy="50292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8888" y="886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40680" y="914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344168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&amp; inconsistencies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categoricals, normalise numericals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train/test; apply SMOTE if imbalance detected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60520" cy="19202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" y="2990088"/>
            <a:ext cx="502920" cy="50292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3017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447288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churn distribution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high-impact features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correlations and behavioural trends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60520" cy="19202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18888" y="2990088"/>
            <a:ext cx="502920" cy="50292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18888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40680" y="3017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447288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 (baseline), Decision Tree, AdaBoost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and XGBoost (advanced)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comparison on same train/test split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Evaluation &amp;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32918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80160" y="777240"/>
            <a:ext cx="822960" cy="82296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01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ROC-AUC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focus on Recall for churn class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best-performing model by balanced metrics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834640" cy="32918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0" y="777240"/>
            <a:ext cx="822960" cy="82296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Optimisation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with GridSearchCV / RandomizedSearchCV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for stability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834640" cy="32918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0" y="777240"/>
            <a:ext cx="822960" cy="82296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737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trained model with joblib (model.pkl)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API: POST /predict, GET /stats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business intelligence dashboard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Workflow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526280"/>
            <a:ext cx="1051560" cy="292608"/>
          </a:xfrm>
          <a:prstGeom prst="rect">
            <a:avLst/>
          </a:prstGeom>
          <a:solidFill>
            <a:srgbClr val="3D6B3D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526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463040" y="4672584"/>
            <a:ext cx="137160" cy="0"/>
          </a:xfrm>
          <a:prstGeom prst="line">
            <a:avLst/>
          </a:prstGeom>
          <a:noFill/>
          <a:ln w="190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600200" y="4526280"/>
            <a:ext cx="1051560" cy="292608"/>
          </a:xfrm>
          <a:prstGeom prst="rect">
            <a:avLst/>
          </a:prstGeom>
          <a:solidFill>
            <a:srgbClr val="3D6B3D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00200" y="4526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51760" y="4672584"/>
            <a:ext cx="137160" cy="0"/>
          </a:xfrm>
          <a:prstGeom prst="line">
            <a:avLst/>
          </a:prstGeom>
          <a:noFill/>
          <a:ln w="190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88920" y="4526280"/>
            <a:ext cx="1051560" cy="292608"/>
          </a:xfrm>
          <a:prstGeom prst="rect">
            <a:avLst/>
          </a:prstGeom>
          <a:solidFill>
            <a:srgbClr val="3D6B3D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88920" y="4526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0" y="4672584"/>
            <a:ext cx="137160" cy="0"/>
          </a:xfrm>
          <a:prstGeom prst="line">
            <a:avLst/>
          </a:prstGeom>
          <a:noFill/>
          <a:ln w="190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977640" y="4526280"/>
            <a:ext cx="1051560" cy="292608"/>
          </a:xfrm>
          <a:prstGeom prst="rect">
            <a:avLst/>
          </a:prstGeom>
          <a:solidFill>
            <a:srgbClr val="3D6B3D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77640" y="4526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0" y="4672584"/>
            <a:ext cx="137160" cy="0"/>
          </a:xfrm>
          <a:prstGeom prst="line">
            <a:avLst/>
          </a:prstGeom>
          <a:noFill/>
          <a:ln w="190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166360" y="4526280"/>
            <a:ext cx="1051560" cy="292608"/>
          </a:xfrm>
          <a:prstGeom prst="rect">
            <a:avLst/>
          </a:prstGeom>
          <a:solidFill>
            <a:srgbClr val="3D6B3D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66360" y="4526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17920" y="4672584"/>
            <a:ext cx="137160" cy="0"/>
          </a:xfrm>
          <a:prstGeom prst="line">
            <a:avLst/>
          </a:prstGeom>
          <a:noFill/>
          <a:ln w="190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55080" y="4526280"/>
            <a:ext cx="1051560" cy="292608"/>
          </a:xfrm>
          <a:prstGeom prst="rect">
            <a:avLst/>
          </a:prstGeom>
          <a:solidFill>
            <a:srgbClr val="3D6B3D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55080" y="4526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06640" y="4672584"/>
            <a:ext cx="137160" cy="0"/>
          </a:xfrm>
          <a:prstGeom prst="line">
            <a:avLst/>
          </a:prstGeom>
          <a:noFill/>
          <a:ln w="190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543800" y="4526280"/>
            <a:ext cx="1051560" cy="292608"/>
          </a:xfrm>
          <a:prstGeom prst="rect">
            <a:avLst/>
          </a:prstGeom>
          <a:solidFill>
            <a:srgbClr val="6BAE6B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43800" y="4526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834640" cy="3657600"/>
          </a:xfrm>
          <a:prstGeom prst="rect">
            <a:avLst/>
          </a:prstGeom>
          <a:solidFill>
            <a:srgbClr val="1F4D1F"/>
          </a:solidFill>
          <a:ln w="1270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834640" cy="365760"/>
          </a:xfrm>
          <a:prstGeom prst="rect">
            <a:avLst/>
          </a:prstGeom>
          <a:solidFill>
            <a:srgbClr val="6BAE6B">
              <a:alpha val="80000"/>
            </a:srgbClr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955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" y="1261872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6BAE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07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WA_Fn-UseC_-Telco-Customer-Churn.csv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" y="1691640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6BAE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save_model.py  →  Preprocessing pipeline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" y="2121408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6BAE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 (best model)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" y="2551176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6BAE6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596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  |  scaler.pkl  |  feature_columns.pkl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4224528"/>
            <a:ext cx="2834640" cy="210312"/>
          </a:xfrm>
          <a:prstGeom prst="rect">
            <a:avLst/>
          </a:prstGeom>
          <a:solidFill>
            <a:srgbClr val="6BAE6B">
              <a:alpha val="30000"/>
            </a:srgbClr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42336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run once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777240"/>
            <a:ext cx="2834640" cy="3657600"/>
          </a:xfrm>
          <a:prstGeom prst="rect">
            <a:avLst/>
          </a:prstGeom>
          <a:solidFill>
            <a:srgbClr val="1A3D3A"/>
          </a:solidFill>
          <a:ln w="12700">
            <a:solidFill>
              <a:srgbClr val="4AB8B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777240"/>
            <a:ext cx="2834640" cy="365760"/>
          </a:xfrm>
          <a:prstGeom prst="rect">
            <a:avLst/>
          </a:prstGeom>
          <a:solidFill>
            <a:srgbClr val="4AB8B0">
              <a:alpha val="80000"/>
            </a:srgbClr>
          </a:solidFill>
          <a:ln w="12700">
            <a:solidFill>
              <a:srgbClr val="4A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7955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 (Flask)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0128" y="1261872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B8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1307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backend/app.py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10128" y="1691640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B8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0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2121408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B8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/stats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0128" y="2551176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B8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0" y="2596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/analysis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0128" y="2980944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B8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0" y="3026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build_feature_vector()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10128" y="3410712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B8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83280" y="3456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get_risk_level()  |  get_factors()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4224528"/>
            <a:ext cx="2834640" cy="210312"/>
          </a:xfrm>
          <a:prstGeom prst="rect">
            <a:avLst/>
          </a:prstGeom>
          <a:solidFill>
            <a:srgbClr val="4AB8B0">
              <a:alpha val="30000"/>
            </a:srgbClr>
          </a:solidFill>
          <a:ln w="12700">
            <a:solidFill>
              <a:srgbClr val="4AB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0" y="42336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http://127.0.0.1:5000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72200" y="777240"/>
            <a:ext cx="2834640" cy="3657600"/>
          </a:xfrm>
          <a:prstGeom prst="rect">
            <a:avLst/>
          </a:prstGeom>
          <a:solidFill>
            <a:srgbClr val="1F2D4D"/>
          </a:solidFill>
          <a:ln w="12700">
            <a:solidFill>
              <a:srgbClr val="4A7AB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72200" y="777240"/>
            <a:ext cx="2834640" cy="365760"/>
          </a:xfrm>
          <a:prstGeom prst="rect">
            <a:avLst/>
          </a:prstGeom>
          <a:solidFill>
            <a:srgbClr val="4A7AB8">
              <a:alpha val="80000"/>
            </a:srgbClr>
          </a:solidFill>
          <a:ln w="12700">
            <a:solidFill>
              <a:srgbClr val="4A7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63640" y="7955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81928" y="1261872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7A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55080" y="1307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churn_dashboard.html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81928" y="1691640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7A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55080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input form (Fetch API)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1928" y="2121408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7A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55080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probability bars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1928" y="2551176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7A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55080" y="2596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 badge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81928" y="2980944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7A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55080" y="3026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 panel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81928" y="3410712"/>
            <a:ext cx="2615184" cy="347472"/>
          </a:xfrm>
          <a:prstGeom prst="rect">
            <a:avLst/>
          </a:prstGeom>
          <a:solidFill>
            <a:srgbClr val="2C4A2C">
              <a:alpha val="70000"/>
            </a:srgbClr>
          </a:solidFill>
          <a:ln w="3810">
            <a:solidFill>
              <a:srgbClr val="4A7A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55080" y="3456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 table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72200" y="4224528"/>
            <a:ext cx="2834640" cy="210312"/>
          </a:xfrm>
          <a:prstGeom prst="rect">
            <a:avLst/>
          </a:prstGeom>
          <a:solidFill>
            <a:srgbClr val="4A7AB8">
              <a:alpha val="30000"/>
            </a:srgbClr>
          </a:solidFill>
          <a:ln w="12700">
            <a:solidFill>
              <a:srgbClr val="4A7A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72200" y="42336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no framework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26080" y="2331720"/>
            <a:ext cx="347472" cy="347472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92608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897880" y="2331720"/>
            <a:ext cx="347472" cy="347472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89788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2816352" y="27249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artefacts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788152" y="27249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HTTP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20040" y="46542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replaceable — the model can be retrained without touching the frontend; the API can be extended without modifying the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Request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298448" cy="868680"/>
          </a:xfrm>
          <a:prstGeom prst="rect">
            <a:avLst/>
          </a:prstGeom>
          <a:solidFill>
            <a:srgbClr val="3D6B3D"/>
          </a:solidFill>
          <a:ln w="1016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72768" y="1805940"/>
            <a:ext cx="146304" cy="0"/>
          </a:xfrm>
          <a:prstGeom prst="line">
            <a:avLst/>
          </a:prstGeom>
          <a:noFill/>
          <a:ln w="254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64208" y="1728216"/>
            <a:ext cx="73152" cy="155448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19072" y="1371600"/>
            <a:ext cx="1298448" cy="868680"/>
          </a:xfrm>
          <a:prstGeom prst="rect">
            <a:avLst/>
          </a:prstGeom>
          <a:solidFill>
            <a:srgbClr val="1A5050"/>
          </a:solidFill>
          <a:ln w="1016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19072" y="13716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(Dashboard)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805940"/>
            <a:ext cx="146304" cy="0"/>
          </a:xfrm>
          <a:prstGeom prst="line">
            <a:avLst/>
          </a:prstGeom>
          <a:noFill/>
          <a:ln w="254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08960" y="1728216"/>
            <a:ext cx="73152" cy="155448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63824" y="1371600"/>
            <a:ext cx="1298448" cy="868680"/>
          </a:xfrm>
          <a:prstGeom prst="rect">
            <a:avLst/>
          </a:prstGeom>
          <a:solidFill>
            <a:srgbClr val="2C4060"/>
          </a:solidFill>
          <a:ln w="1016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63824" y="13716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62272" y="1805940"/>
            <a:ext cx="146304" cy="0"/>
          </a:xfrm>
          <a:prstGeom prst="line">
            <a:avLst/>
          </a:prstGeom>
          <a:noFill/>
          <a:ln w="254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53712" y="1728216"/>
            <a:ext cx="73152" cy="155448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08576" y="1371600"/>
            <a:ext cx="1298448" cy="868680"/>
          </a:xfrm>
          <a:prstGeom prst="rect">
            <a:avLst/>
          </a:prstGeom>
          <a:solidFill>
            <a:srgbClr val="4A2060"/>
          </a:solidFill>
          <a:ln w="1016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08576" y="13716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07024" y="1805940"/>
            <a:ext cx="146304" cy="0"/>
          </a:xfrm>
          <a:prstGeom prst="line">
            <a:avLst/>
          </a:prstGeom>
          <a:noFill/>
          <a:ln w="254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98464" y="1728216"/>
            <a:ext cx="73152" cy="155448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53328" y="1371600"/>
            <a:ext cx="1298448" cy="868680"/>
          </a:xfrm>
          <a:prstGeom prst="rect">
            <a:avLst/>
          </a:prstGeom>
          <a:solidFill>
            <a:srgbClr val="2C4060"/>
          </a:solidFill>
          <a:ln w="1016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53328" y="13716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51776" y="1805940"/>
            <a:ext cx="146304" cy="0"/>
          </a:xfrm>
          <a:prstGeom prst="line">
            <a:avLst/>
          </a:prstGeom>
          <a:noFill/>
          <a:ln w="254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43216" y="1728216"/>
            <a:ext cx="73152" cy="155448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98080" y="1371600"/>
            <a:ext cx="1298448" cy="868680"/>
          </a:xfrm>
          <a:prstGeom prst="rect">
            <a:avLst/>
          </a:prstGeom>
          <a:solidFill>
            <a:srgbClr val="1A5050"/>
          </a:solidFill>
          <a:ln w="1016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137160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3544" y="2240280"/>
            <a:ext cx="0" cy="256032"/>
          </a:xfrm>
          <a:prstGeom prst="line">
            <a:avLst/>
          </a:prstGeom>
          <a:noFill/>
          <a:ln w="10160">
            <a:solidFill>
              <a:srgbClr val="A8C4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249631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form: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charges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68296" y="2240280"/>
            <a:ext cx="0" cy="256032"/>
          </a:xfrm>
          <a:prstGeom prst="line">
            <a:avLst/>
          </a:prstGeom>
          <a:noFill/>
          <a:ln w="10160">
            <a:solidFill>
              <a:srgbClr val="A8C4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719072" y="249631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Fetch API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13048" y="2240280"/>
            <a:ext cx="0" cy="256032"/>
          </a:xfrm>
          <a:prstGeom prst="line">
            <a:avLst/>
          </a:prstGeom>
          <a:noFill/>
          <a:ln w="10160">
            <a:solidFill>
              <a:srgbClr val="A8C4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63824" y="249631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build_feature_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vector() maps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columns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257800" y="2240280"/>
            <a:ext cx="0" cy="256032"/>
          </a:xfrm>
          <a:prstGeom prst="line">
            <a:avLst/>
          </a:prstGeom>
          <a:noFill/>
          <a:ln w="10160">
            <a:solidFill>
              <a:srgbClr val="A8C4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08576" y="249631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predict_proba()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churn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02552" y="2240280"/>
            <a:ext cx="0" cy="256032"/>
          </a:xfrm>
          <a:prstGeom prst="line">
            <a:avLst/>
          </a:prstGeom>
          <a:noFill/>
          <a:ln w="10160">
            <a:solidFill>
              <a:srgbClr val="A8C4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53328" y="249631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get_risk_level()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get_factors()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147304" y="2240280"/>
            <a:ext cx="0" cy="256032"/>
          </a:xfrm>
          <a:prstGeom prst="line">
            <a:avLst/>
          </a:prstGeom>
          <a:noFill/>
          <a:ln w="10160">
            <a:solidFill>
              <a:srgbClr val="A8C4A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98080" y="2496312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bars,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badge, factors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panel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" y="3493008"/>
            <a:ext cx="8119872" cy="0"/>
          </a:xfrm>
          <a:prstGeom prst="line">
            <a:avLst/>
          </a:prstGeom>
          <a:noFill/>
          <a:ln w="12700">
            <a:solidFill>
              <a:srgbClr val="C8A84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3566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 flows back: JSON { churnProbability, riskLevel, contributingFactors, recommendedAction }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913632"/>
            <a:ext cx="8595360" cy="1024128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3941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Details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224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371600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(local)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0" y="4224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CORS: 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206240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flask-cors enabled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35040" y="4224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040880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 — same as training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4517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vector: 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371600" y="45171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columns, zero-initialised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200400" y="4517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206240" y="45171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default (tunable)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035040" y="4517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time: 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040880" y="45171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— Customer Prediction</a:t>
            </a:r>
            <a:endParaRPr lang="en-US" sz="2200" dirty="0"/>
          </a:p>
        </p:txBody>
      </p:sp>
      <p:pic>
        <p:nvPicPr>
          <p:cNvPr id="4" name="Image 0" descr="/home/claude/dashboard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31520"/>
            <a:ext cx="5943600" cy="448056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355080" y="868680"/>
            <a:ext cx="2514600" cy="5486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355080" y="868680"/>
            <a:ext cx="36576" cy="54864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46520" y="9052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 cards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46520" y="11430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from GET /stats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55080" y="1572768"/>
            <a:ext cx="2514600" cy="5486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55080" y="1572768"/>
            <a:ext cx="36576" cy="54864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46520" y="160934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form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46520" y="18470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POST /predict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355080" y="2423160"/>
            <a:ext cx="2514600" cy="5486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55080" y="2423160"/>
            <a:ext cx="36576" cy="54864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46520" y="24597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bars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46520" y="26974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 retention 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55080" y="3154680"/>
            <a:ext cx="2514600" cy="5486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355080" y="3154680"/>
            <a:ext cx="36576" cy="54864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46520" y="31912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34290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55080" y="3858768"/>
            <a:ext cx="2514600" cy="54864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355080" y="3858768"/>
            <a:ext cx="36576" cy="54864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46520" y="389534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 churn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46520" y="41330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+ Fiber + 2mo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Trends &amp; Feature Analysis</a:t>
            </a:r>
            <a:endParaRPr lang="en-US" sz="2200" dirty="0"/>
          </a:p>
        </p:txBody>
      </p:sp>
      <p:pic>
        <p:nvPicPr>
          <p:cNvPr id="4" name="Image 0" descr="/home/claude/charts_i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6126480" cy="4233672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92240" y="749808"/>
            <a:ext cx="2423160" cy="4233672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92240" y="749808"/>
            <a:ext cx="2423160" cy="347472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0" y="768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37960" y="1207008"/>
            <a:ext cx="2331720" cy="658368"/>
          </a:xfrm>
          <a:prstGeom prst="rect">
            <a:avLst/>
          </a:prstGeom>
          <a:solidFill>
            <a:srgbClr val="1A2E1A">
              <a:alpha val="80000"/>
            </a:srgbClr>
          </a:solidFill>
          <a:ln w="3810">
            <a:solidFill>
              <a:srgbClr val="6BAE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65392" y="125272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269480" y="12801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M-to-M customers churn more than 2-year contract holders (43% vs 11%)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37960" y="1956816"/>
            <a:ext cx="2331720" cy="658368"/>
          </a:xfrm>
          <a:prstGeom prst="rect">
            <a:avLst/>
          </a:prstGeom>
          <a:solidFill>
            <a:srgbClr val="1A2E1A">
              <a:alpha val="80000"/>
            </a:srgbClr>
          </a:solidFill>
          <a:ln w="3810">
            <a:solidFill>
              <a:srgbClr val="6BAE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65392" y="2002536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269480" y="20299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 first 0–12 months — highest risk window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37960" y="2706624"/>
            <a:ext cx="2331720" cy="658368"/>
          </a:xfrm>
          <a:prstGeom prst="rect">
            <a:avLst/>
          </a:prstGeom>
          <a:solidFill>
            <a:srgbClr val="1A2E1A">
              <a:alpha val="80000"/>
            </a:srgbClr>
          </a:solidFill>
          <a:ln w="3810">
            <a:solidFill>
              <a:srgbClr val="6BAE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65392" y="275234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$75+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69480" y="27797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High-charge customers (&gt;$75/mo) show 35%+ churn rate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537960" y="3456432"/>
            <a:ext cx="2331720" cy="658368"/>
          </a:xfrm>
          <a:prstGeom prst="rect">
            <a:avLst/>
          </a:prstGeom>
          <a:solidFill>
            <a:srgbClr val="1A2E1A">
              <a:alpha val="80000"/>
            </a:srgbClr>
          </a:solidFill>
          <a:ln w="3810">
            <a:solidFill>
              <a:srgbClr val="6BAE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565392" y="350215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269480" y="352958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has the single greatest impact on churn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37960" y="4206240"/>
            <a:ext cx="2331720" cy="658368"/>
          </a:xfrm>
          <a:prstGeom prst="rect">
            <a:avLst/>
          </a:prstGeom>
          <a:solidFill>
            <a:srgbClr val="1A2E1A">
              <a:alpha val="80000"/>
            </a:srgbClr>
          </a:solidFill>
          <a:ln w="3810">
            <a:solidFill>
              <a:srgbClr val="6BAE6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65392" y="425196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269480" y="427939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users without tech support — danger zone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of Algorithms &amp;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02920"/>
          </a:xfrm>
          <a:prstGeom prst="rect">
            <a:avLst/>
          </a:prstGeom>
          <a:solidFill>
            <a:srgbClr val="3D6B3D">
              <a:alpha val="70000"/>
            </a:srgbClr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Binary classification on structured tabular customer data — predict churn probability to enable proactive retention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788920" cy="1627632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2788920" cy="329184"/>
          </a:xfrm>
          <a:prstGeom prst="rect">
            <a:avLst/>
          </a:prstGeom>
          <a:solidFill>
            <a:srgbClr val="6BAE6B">
              <a:alpha val="80000"/>
            </a:srgbClr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67712" y="1435608"/>
            <a:ext cx="713232" cy="219456"/>
          </a:xfrm>
          <a:prstGeom prst="rect">
            <a:avLst/>
          </a:prstGeom>
          <a:solidFill>
            <a:srgbClr val="2C4A2C"/>
          </a:solidFill>
          <a:ln w="381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67712" y="14356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93192" y="1792224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outcomes with probabilistic output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 — business explainability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benchmark for comparison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389888"/>
            <a:ext cx="2788920" cy="1627632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389888"/>
            <a:ext cx="2788920" cy="329184"/>
          </a:xfrm>
          <a:prstGeom prst="rect">
            <a:avLst/>
          </a:prstGeom>
          <a:solidFill>
            <a:srgbClr val="6BAE6B">
              <a:alpha val="80000"/>
            </a:srgbClr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435608"/>
            <a:ext cx="713232" cy="219456"/>
          </a:xfrm>
          <a:prstGeom prst="rect">
            <a:avLst/>
          </a:prstGeom>
          <a:solidFill>
            <a:srgbClr val="2C4A2C"/>
          </a:solidFill>
          <a:ln w="381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0" y="14356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37560" y="1792224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feature interactions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categorical + numerical data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customer segmentation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1389888"/>
            <a:ext cx="2788920" cy="1627632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44768" y="1389888"/>
            <a:ext cx="2788920" cy="329184"/>
          </a:xfrm>
          <a:prstGeom prst="rect">
            <a:avLst/>
          </a:prstGeom>
          <a:solidFill>
            <a:srgbClr val="6BAE6B">
              <a:alpha val="80000"/>
            </a:srgbClr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36208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56448" y="1435608"/>
            <a:ext cx="713232" cy="219456"/>
          </a:xfrm>
          <a:prstGeom prst="rect">
            <a:avLst/>
          </a:prstGeom>
          <a:solidFill>
            <a:srgbClr val="2C4A2C"/>
          </a:solidFill>
          <a:ln w="381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56448" y="143560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81928" y="1792224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with re-weighted samples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stumps corrected iteratively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powerful than single DT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200400"/>
            <a:ext cx="2788920" cy="1627632"/>
          </a:xfrm>
          <a:prstGeom prst="rect">
            <a:avLst/>
          </a:prstGeom>
          <a:solidFill>
            <a:srgbClr val="1A3D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" y="3200400"/>
            <a:ext cx="2788920" cy="329184"/>
          </a:xfrm>
          <a:prstGeom prst="rect">
            <a:avLst/>
          </a:prstGeom>
          <a:solidFill>
            <a:srgbClr val="6BAE6B">
              <a:alpha val="80000"/>
            </a:srgbClr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3227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67712" y="3246120"/>
            <a:ext cx="713232" cy="219456"/>
          </a:xfrm>
          <a:prstGeom prst="rect">
            <a:avLst/>
          </a:prstGeom>
          <a:solidFill>
            <a:srgbClr val="2C4A2C"/>
          </a:solidFill>
          <a:ln w="381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67712" y="324612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3192" y="3602736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— multiple trees in parallel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variance, handles noisy data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200400"/>
            <a:ext cx="2788920" cy="1627632"/>
          </a:xfrm>
          <a:prstGeom prst="rect">
            <a:avLst/>
          </a:prstGeom>
          <a:solidFill>
            <a:srgbClr val="1A2C1A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0" y="3200400"/>
            <a:ext cx="2788920" cy="32918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91840" y="3227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12080" y="3246120"/>
            <a:ext cx="713232" cy="219456"/>
          </a:xfrm>
          <a:prstGeom prst="rect">
            <a:avLst/>
          </a:prstGeom>
          <a:solidFill>
            <a:srgbClr val="1A2E1A"/>
          </a:solidFill>
          <a:ln w="3810">
            <a:solidFill>
              <a:srgbClr val="1A2E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212080" y="324612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337560" y="3602736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residual correction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regularisation built-in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 on this dataset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of Supporting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2788920" cy="1298448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868680"/>
            <a:ext cx="411480" cy="41148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" y="896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30759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 (TotalCharges whitespace bug fixed)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 — binary + one-hot (30+ features)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normalisation before SMOTE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788920" cy="1298448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868680"/>
            <a:ext cx="411480" cy="41148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8961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— Class Imbalance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30759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 churn vs 73.5% no-churn in raw data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interpolation between minority samples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to 5,164 vs 5,164 — fair model training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44768" y="2221992"/>
            <a:ext cx="2788920" cy="1298448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36208" y="2313432"/>
            <a:ext cx="411480" cy="41148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39128" y="23408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1928" y="2752344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Random Forest and XGBoost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contract type, tenure, monthly charges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insight: tells businesses WHY customers churn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221992"/>
            <a:ext cx="2788920" cy="1298448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" y="2313432"/>
            <a:ext cx="411480" cy="41148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" y="23408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" y="2752344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during hyperparameter tuning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in metric estimates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model generalises beyond training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666744"/>
            <a:ext cx="2788920" cy="1298448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91840" y="3758184"/>
            <a:ext cx="411480" cy="41148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37856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19709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for LR, DT, AdaBoost (small spaces)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for RF, XGBoost (large spaces)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iterations, scored by F1 for churn class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4768" y="3666744"/>
            <a:ext cx="2788920" cy="1298448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36208" y="3758184"/>
            <a:ext cx="411480" cy="411480"/>
          </a:xfrm>
          <a:prstGeom prst="ellipse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36208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39128" y="37856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Optimisation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81928" y="419709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 is not always optimal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thresholds 0.1–0.9, select best F1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precision–recall trade-off control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Comparison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749808"/>
            <a:ext cx="2926080" cy="3474720"/>
          </a:xfrm>
          <a:prstGeom prst="rect">
            <a:avLst/>
          </a:prstGeom>
          <a:solidFill>
            <a:srgbClr val="2C4A2C"/>
          </a:solidFill>
          <a:ln w="190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0" y="749808"/>
            <a:ext cx="2926080" cy="365760"/>
          </a:xfrm>
          <a:prstGeom prst="rect">
            <a:avLst/>
          </a:prstGeom>
          <a:solidFill>
            <a:srgbClr val="C8A84B">
              <a:alpha val="80000"/>
            </a:srgbClr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35040" y="7680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234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989320" y="1920240"/>
            <a:ext cx="1325880" cy="658368"/>
          </a:xfrm>
          <a:prstGeom prst="rect">
            <a:avLst/>
          </a:prstGeom>
          <a:solidFill>
            <a:srgbClr val="1A2E1A">
              <a:alpha val="90000"/>
            </a:srgbClr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9320" y="19568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89320" y="23042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06640" y="1920240"/>
            <a:ext cx="1325880" cy="658368"/>
          </a:xfrm>
          <a:prstGeom prst="rect">
            <a:avLst/>
          </a:prstGeom>
          <a:solidFill>
            <a:srgbClr val="1A2E1A">
              <a:alpha val="90000"/>
            </a:srgbClr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06640" y="195681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406640" y="23042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1325880" cy="658368"/>
          </a:xfrm>
          <a:prstGeom prst="rect">
            <a:avLst/>
          </a:prstGeom>
          <a:solidFill>
            <a:srgbClr val="1A2E1A">
              <a:alpha val="90000"/>
            </a:srgbClr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89320" y="27340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~0.95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89320" y="30815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406640" y="2697480"/>
            <a:ext cx="1325880" cy="658368"/>
          </a:xfrm>
          <a:prstGeom prst="rect">
            <a:avLst/>
          </a:prstGeom>
          <a:solidFill>
            <a:srgbClr val="1A2E1A">
              <a:alpha val="90000"/>
            </a:srgbClr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06640" y="27340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06640" y="30815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4370832"/>
            <a:ext cx="8595360" cy="566928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improved recall from ~71% (without balancing) to ~89%  •  XGBoost ranks a churning customer above a non-churning one 95% of the time (ROC-AUC)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4A2C"/>
          </a:solidFill>
          <a:ln w="12700">
            <a:solidFill>
              <a:srgbClr val="2C4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4160520"/>
          </a:xfrm>
          <a:prstGeom prst="rect">
            <a:avLst/>
          </a:prstGeom>
          <a:solidFill>
            <a:srgbClr val="2C4A2C"/>
          </a:solidFill>
          <a:ln w="6350">
            <a:solidFill>
              <a:srgbClr val="6BAE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347472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680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74320" cy="2743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from raw data to deployed prediction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274320" cy="2743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compared with consistent evaluation framework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274320" cy="2743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achieving ~88% accuracy and ~0.95 ROC-AUC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74320" cy="2743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2852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serving real-time predictions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274320" cy="2743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Business-facing dashboard with risk tiers and retention actions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274320" cy="274320"/>
          </a:xfrm>
          <a:prstGeom prst="rect">
            <a:avLst/>
          </a:prstGeom>
          <a:solidFill>
            <a:srgbClr val="6BAE6B"/>
          </a:solidFill>
          <a:ln w="12700">
            <a:solidFill>
              <a:srgbClr val="6BA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VS Code project structure — production-ready architecture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749808"/>
            <a:ext cx="4160520" cy="4160520"/>
          </a:xfrm>
          <a:prstGeom prst="rect">
            <a:avLst/>
          </a:prstGeom>
          <a:solidFill>
            <a:srgbClr val="2C4A2C"/>
          </a:solidFill>
          <a:ln w="6350">
            <a:solidFill>
              <a:srgbClr val="C8A84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749808"/>
            <a:ext cx="4160520" cy="347472"/>
          </a:xfrm>
          <a:prstGeom prst="rect">
            <a:avLst/>
          </a:prstGeom>
          <a:solidFill>
            <a:srgbClr val="C8A84B">
              <a:alpha val="70000"/>
            </a:srgbClr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7680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1225296"/>
            <a:ext cx="219456" cy="219456"/>
          </a:xfrm>
          <a:prstGeom prst="ellipse">
            <a:avLst/>
          </a:prstGeom>
          <a:solidFill>
            <a:srgbClr val="C8A84B">
              <a:alpha val="70000"/>
            </a:srgbClr>
          </a:solidFill>
          <a:ln w="1016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02352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for genuine model explainability (not rule-based)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1883664"/>
            <a:ext cx="219456" cy="219456"/>
          </a:xfrm>
          <a:prstGeom prst="ellipse">
            <a:avLst/>
          </a:prstGeom>
          <a:solidFill>
            <a:srgbClr val="C8A84B">
              <a:alpha val="70000"/>
            </a:srgbClr>
          </a:solidFill>
          <a:ln w="1016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02352" y="18653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modelling — LSTM or survival analysis for behaviour trends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542032"/>
            <a:ext cx="219456" cy="219456"/>
          </a:xfrm>
          <a:prstGeom prst="ellipse">
            <a:avLst/>
          </a:prstGeom>
          <a:solidFill>
            <a:srgbClr val="C8A84B">
              <a:alpha val="70000"/>
            </a:srgbClr>
          </a:solidFill>
          <a:ln w="1016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02352" y="2523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authentication and rate limiting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200400"/>
            <a:ext cx="219456" cy="219456"/>
          </a:xfrm>
          <a:prstGeom prst="ellipse">
            <a:avLst/>
          </a:prstGeom>
          <a:solidFill>
            <a:srgbClr val="C8A84B">
              <a:alpha val="70000"/>
            </a:srgbClr>
          </a:solidFill>
          <a:ln w="1016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02352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 on data drift detection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858768"/>
            <a:ext cx="219456" cy="219456"/>
          </a:xfrm>
          <a:prstGeom prst="ellipse">
            <a:avLst/>
          </a:prstGeom>
          <a:solidFill>
            <a:srgbClr val="C8A84B">
              <a:alpha val="70000"/>
            </a:srgbClr>
          </a:solidFill>
          <a:ln w="1016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02352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customer database view with cohort analysis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6B3D"/>
          </a:solidFill>
          <a:ln w="12700">
            <a:solidFill>
              <a:srgbClr val="3D6B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Churn Prediction  ·  4-Member Team Project  ·  Computer Science &amp;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1495</Words>
  <Application>Microsoft Macintosh PowerPoint</Application>
  <PresentationFormat>On-screen Show (16:9)</PresentationFormat>
  <Paragraphs>349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Customer Churn Prediction</dc:title>
  <dc:subject>PptxGenJS Presentation</dc:subject>
  <dc:creator>PptxGenJS</dc:creator>
  <cp:lastModifiedBy>Ishika singh</cp:lastModifiedBy>
  <cp:revision>1</cp:revision>
  <dcterms:created xsi:type="dcterms:W3CDTF">2026-04-14T18:53:11Z</dcterms:created>
  <dcterms:modified xsi:type="dcterms:W3CDTF">2026-04-15T03:48:24Z</dcterms:modified>
</cp:coreProperties>
</file>